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Flight Delay Prediction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21031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7FB3D3"/>
                </a:solidFill>
                <a:latin typeface="Calibri"/>
                <a:ea typeface="Calibri"/>
                <a:cs typeface="Calibri"/>
                <a:sym typeface="Calibri"/>
              </a:rPr>
              <a:t>Using Apache Spark &amp; Machine Learning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2743200"/>
            <a:ext cx="4114800" cy="36576"/>
          </a:xfrm>
          <a:prstGeom prst="rect">
            <a:avLst/>
          </a:prstGeom>
          <a:solidFill>
            <a:srgbClr val="2196C4"/>
          </a:solidFill>
          <a:ln cap="flat" cmpd="sng" w="12700">
            <a:solidFill>
              <a:srgbClr val="219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E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C4E2"/>
                </a:solidFill>
                <a:latin typeface="Calibri"/>
                <a:ea typeface="Calibri"/>
                <a:cs typeface="Calibri"/>
                <a:sym typeface="Calibri"/>
              </a:rPr>
              <a:t>Geoff</a:t>
            </a:r>
            <a:r>
              <a:rPr lang="en-US" sz="1300">
                <a:solidFill>
                  <a:srgbClr val="A0C4E2"/>
                </a:solidFill>
                <a:latin typeface="Calibri"/>
                <a:ea typeface="Calibri"/>
                <a:cs typeface="Calibri"/>
                <a:sym typeface="Calibri"/>
              </a:rPr>
              <a:t>rey </a:t>
            </a:r>
            <a:r>
              <a:rPr b="0" i="0" lang="en-US" sz="1300" u="none" cap="none" strike="noStrike">
                <a:solidFill>
                  <a:srgbClr val="A0C4E2"/>
                </a:solidFill>
                <a:latin typeface="Calibri"/>
                <a:ea typeface="Calibri"/>
                <a:cs typeface="Calibri"/>
                <a:sym typeface="Calibri"/>
              </a:rPr>
              <a:t>Cloud </a:t>
            </a:r>
            <a:endParaRPr sz="1300">
              <a:solidFill>
                <a:srgbClr val="A0C4E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E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A0C4E2"/>
                </a:solidFill>
                <a:latin typeface="Calibri"/>
                <a:ea typeface="Calibri"/>
                <a:cs typeface="Calibri"/>
                <a:sym typeface="Calibri"/>
              </a:rPr>
              <a:t>Cloud Computing for Data Analysis</a:t>
            </a:r>
            <a:endParaRPr sz="1300">
              <a:solidFill>
                <a:srgbClr val="A0C4E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E2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A0C4E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E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C4E2"/>
                </a:solidFill>
                <a:latin typeface="Calibri"/>
                <a:ea typeface="Calibri"/>
                <a:cs typeface="Calibri"/>
                <a:sym typeface="Calibri"/>
              </a:rPr>
              <a:t>Dataset: BTS On-Time Performance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274320" y="470916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D7EE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6250" y="1838500"/>
            <a:ext cx="2443950" cy="24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A2342"/>
                </a:solidFill>
                <a:latin typeface="Cambria"/>
                <a:ea typeface="Cambria"/>
                <a:cs typeface="Cambria"/>
                <a:sym typeface="Cambria"/>
              </a:rPr>
              <a:t>Project Overview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5760" y="1051560"/>
            <a:ext cx="1965960" cy="347472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23444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365760" y="192024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A2342"/>
                </a:solidFill>
                <a:latin typeface="Cambria"/>
                <a:ea typeface="Cambria"/>
                <a:cs typeface="Cambria"/>
                <a:sym typeface="Cambria"/>
              </a:rPr>
              <a:t>Ingest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75488" y="2377440"/>
            <a:ext cx="1755648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Simulate real-time streaming from 540k BTS flight records via batched CSV ingestion</a:t>
            </a:r>
            <a:endParaRPr i="0" sz="11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487168" y="1051560"/>
            <a:ext cx="1965960" cy="347472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2968" y="123444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2487168" y="192024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A2342"/>
                </a:solidFill>
                <a:latin typeface="Cambria"/>
                <a:ea typeface="Cambria"/>
                <a:cs typeface="Cambria"/>
                <a:sym typeface="Cambria"/>
              </a:rPr>
              <a:t>Stream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596896" y="2377440"/>
            <a:ext cx="1755648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Process micro-batches with Spark Structured Streaming using foreachBatch</a:t>
            </a:r>
            <a:endParaRPr i="0" sz="11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608576" y="1051560"/>
            <a:ext cx="1965960" cy="347472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94376" y="123444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4608576" y="192024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A2342"/>
                </a:solidFill>
                <a:latin typeface="Cambria"/>
                <a:ea typeface="Cambria"/>
                <a:cs typeface="Cambria"/>
                <a:sym typeface="Cambria"/>
              </a:rPr>
              <a:t>Predict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718304" y="2377440"/>
            <a:ext cx="1755648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Train a Logistic Regression model with MLlib to classify flight delays </a:t>
            </a:r>
            <a:endParaRPr i="0" sz="1150" u="none" cap="none" strike="noStrike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(flight </a:t>
            </a:r>
            <a:r>
              <a:rPr lang="en-US" sz="11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arrivals</a:t>
            </a:r>
            <a:r>
              <a:rPr i="0" lang="en-US" sz="11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&gt; 15 min)</a:t>
            </a:r>
            <a:endParaRPr i="0" sz="11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729984" y="1051560"/>
            <a:ext cx="1965960" cy="347472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15784" y="123444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6729984" y="192024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A2342"/>
                </a:solidFill>
                <a:latin typeface="Cambria"/>
                <a:ea typeface="Cambria"/>
                <a:cs typeface="Cambria"/>
                <a:sym typeface="Cambria"/>
              </a:rPr>
              <a:t>Analyze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839712" y="2377440"/>
            <a:ext cx="1755648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Generate airline, airport, and hourly delay aggregations per batch</a:t>
            </a:r>
            <a:endParaRPr i="0" sz="11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Dataset &amp; Features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65760" y="11430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4F8A"/>
                </a:solidFill>
                <a:latin typeface="Cambria"/>
                <a:ea typeface="Cambria"/>
                <a:cs typeface="Cambria"/>
                <a:sym typeface="Cambria"/>
              </a:rPr>
              <a:t>Data Source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365760" y="1554480"/>
            <a:ext cx="38404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Bureau of Transportation Statistics (BTS)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On-Time Performance Reporting Dataset</a:t>
            </a:r>
            <a:endParaRPr b="0" i="0" sz="13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~540,000 flight records</a:t>
            </a: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January</a:t>
            </a: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 b="0" i="0" sz="13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Stored in public AWS S3 bucket</a:t>
            </a:r>
            <a:endParaRPr b="0" i="0" sz="13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Batch size: 75,000 rows per streaming batch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65760" y="36576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B4F8A"/>
                </a:solidFill>
                <a:latin typeface="Cambria"/>
                <a:ea typeface="Cambria"/>
                <a:cs typeface="Cambria"/>
                <a:sym typeface="Cambria"/>
              </a:rPr>
              <a:t>Target Variable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65760" y="4069080"/>
            <a:ext cx="3749040" cy="640080"/>
          </a:xfrm>
          <a:prstGeom prst="roundRect">
            <a:avLst>
              <a:gd fmla="val 11429" name="adj"/>
            </a:avLst>
          </a:prstGeom>
          <a:solidFill>
            <a:srgbClr val="EFF6FF"/>
          </a:solidFill>
          <a:ln cap="flat" cmpd="sng" w="12700">
            <a:solidFill>
              <a:srgbClr val="219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57200" y="41605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A2342"/>
                </a:solidFill>
                <a:latin typeface="Courier New"/>
                <a:ea typeface="Courier New"/>
                <a:cs typeface="Courier New"/>
                <a:sym typeface="Courier New"/>
              </a:rPr>
              <a:t>is_delayed = 1  if  ARR_DELAY &gt; 15 min  else 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63440" y="11430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4F8A"/>
                </a:solidFill>
                <a:latin typeface="Cambria"/>
                <a:ea typeface="Cambria"/>
                <a:cs typeface="Cambria"/>
                <a:sym typeface="Cambria"/>
              </a:rPr>
              <a:t>Key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663440" y="1600200"/>
            <a:ext cx="4114800" cy="594360"/>
          </a:xfrm>
          <a:prstGeom prst="roundRect">
            <a:avLst>
              <a:gd fmla="val 10769" name="adj"/>
            </a:avLst>
          </a:prstGeom>
          <a:solidFill>
            <a:srgbClr val="D6EAF8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754880" y="1645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8A"/>
                </a:solidFill>
                <a:latin typeface="Calibri"/>
                <a:ea typeface="Calibri"/>
                <a:cs typeface="Calibri"/>
                <a:sym typeface="Calibri"/>
              </a:rPr>
              <a:t>Temporal: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577840" y="1755633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MONTH, DAY_OF_MONTH, DAY_OF_WEEK, FL_DATE, CRS_DEP_TIME, DE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P_DELAY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663440" y="2953512"/>
            <a:ext cx="4114800" cy="594360"/>
          </a:xfrm>
          <a:prstGeom prst="roundRect">
            <a:avLst>
              <a:gd fmla="val 10769" name="adj"/>
            </a:avLst>
          </a:prstGeom>
          <a:solidFill>
            <a:srgbClr val="D6EAF8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754880" y="299923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8A"/>
                </a:solidFill>
                <a:latin typeface="Calibri"/>
                <a:ea typeface="Calibri"/>
                <a:cs typeface="Calibri"/>
                <a:sym typeface="Calibri"/>
              </a:rPr>
              <a:t>Carrier: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663440" y="2276875"/>
            <a:ext cx="4114800" cy="594300"/>
          </a:xfrm>
          <a:prstGeom prst="roundRect">
            <a:avLst>
              <a:gd fmla="val 10769" name="adj"/>
            </a:avLst>
          </a:prstGeom>
          <a:solidFill>
            <a:srgbClr val="D6EAF8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5577840" y="2436914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ORIGIN, DEST, ORIGIN_CITY_NAME, DEST_CITY_NAME, DISTANCE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663440" y="3630212"/>
            <a:ext cx="4114800" cy="594300"/>
          </a:xfrm>
          <a:prstGeom prst="roundRect">
            <a:avLst>
              <a:gd fmla="val 10769" name="adj"/>
            </a:avLst>
          </a:prstGeom>
          <a:solidFill>
            <a:srgbClr val="D6EAF8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754880" y="232257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8A"/>
                </a:solidFill>
                <a:latin typeface="Calibri"/>
                <a:ea typeface="Calibri"/>
                <a:cs typeface="Calibri"/>
                <a:sym typeface="Calibri"/>
              </a:rPr>
              <a:t>Route: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577840" y="299923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OP_UNIQUE_CARRIER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754880" y="3813051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8A"/>
                </a:solidFill>
                <a:latin typeface="Calibri"/>
                <a:ea typeface="Calibri"/>
                <a:cs typeface="Calibri"/>
                <a:sym typeface="Calibri"/>
              </a:rPr>
              <a:t>Delay Causes: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669265" y="3813101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CARRIER_DELAY, WEATHER_DELAY, NAS_DELAY, SECURITY_DELAY, LATE_AIRCRAFT_DELAY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663440" y="4306824"/>
            <a:ext cx="4114800" cy="594360"/>
          </a:xfrm>
          <a:prstGeom prst="roundRect">
            <a:avLst>
              <a:gd fmla="val 10769" name="adj"/>
            </a:avLst>
          </a:prstGeom>
          <a:solidFill>
            <a:srgbClr val="D6EAF8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754880" y="435254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8A"/>
                </a:solidFill>
                <a:latin typeface="Calibri"/>
                <a:ea typeface="Calibri"/>
                <a:cs typeface="Calibri"/>
                <a:sym typeface="Calibri"/>
              </a:rPr>
              <a:t>Status: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617765" y="4466832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CANCELLED, DIVERTED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A2342"/>
                </a:solidFill>
                <a:latin typeface="Cambria"/>
                <a:ea typeface="Cambria"/>
                <a:cs typeface="Cambria"/>
                <a:sym typeface="Cambria"/>
              </a:rPr>
              <a:t>Pipeline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320040" y="1005840"/>
            <a:ext cx="2011680" cy="3794760"/>
          </a:xfrm>
          <a:prstGeom prst="roundRect">
            <a:avLst>
              <a:gd fmla="val 5455" name="adj"/>
            </a:avLst>
          </a:prstGeom>
          <a:solidFill>
            <a:srgbClr val="1B4F8A"/>
          </a:solidFill>
          <a:ln>
            <a:noFill/>
          </a:ln>
          <a:effectLst>
            <a:outerShdw blurRad="762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320040" y="21762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1. Ingestion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320040" y="254203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D7EE"/>
              </a:buClr>
              <a:buSzPts val="1000"/>
              <a:buFont typeface="Courier New"/>
              <a:buNone/>
            </a:pPr>
            <a:r>
              <a:rPr i="0" lang="en-US" sz="1000" u="none" cap="none" strike="noStrike">
                <a:solidFill>
                  <a:srgbClr val="BDD7EE"/>
                </a:solidFill>
                <a:latin typeface="Roboto"/>
                <a:ea typeface="Roboto"/>
                <a:cs typeface="Roboto"/>
                <a:sym typeface="Roboto"/>
              </a:rPr>
              <a:t>ingestion.py</a:t>
            </a:r>
            <a:endParaRPr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11480" y="288036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-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Reads from AWS S3</a:t>
            </a: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s3://flight-records-2023-2026/)</a:t>
            </a:r>
            <a:endParaRPr b="0" i="0" sz="11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-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Splits into 75k-row batches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-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Writes to stream_input/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2468880" y="1005840"/>
            <a:ext cx="2011680" cy="3794760"/>
          </a:xfrm>
          <a:prstGeom prst="roundRect">
            <a:avLst>
              <a:gd fmla="val 5455" name="adj"/>
            </a:avLst>
          </a:prstGeom>
          <a:solidFill>
            <a:srgbClr val="2196C4"/>
          </a:solidFill>
          <a:ln>
            <a:noFill/>
          </a:ln>
          <a:effectLst>
            <a:outerShdw blurRad="762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2468880" y="21762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2. Streaming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468880" y="254203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D7EE"/>
              </a:buClr>
              <a:buSzPts val="1000"/>
              <a:buFont typeface="Courier New"/>
              <a:buNone/>
            </a:pPr>
            <a:r>
              <a:rPr i="0" lang="en-US" sz="1000" u="none" cap="none" strike="noStrike">
                <a:solidFill>
                  <a:srgbClr val="BDD7EE"/>
                </a:solidFill>
                <a:latin typeface="Roboto"/>
                <a:ea typeface="Roboto"/>
                <a:cs typeface="Roboto"/>
                <a:sym typeface="Roboto"/>
              </a:rPr>
              <a:t>streaming.py</a:t>
            </a:r>
            <a:endParaRPr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2443463" y="2880350"/>
            <a:ext cx="1945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89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Char char="-"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Spark Structured Streaming</a:t>
            </a: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spark.readStream.csv()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t/>
            </a:r>
            <a:endParaRPr sz="9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Char char="-"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foreachBatch processing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t/>
            </a:r>
            <a:endParaRPr sz="9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Char char="-"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trigger(availableNow=T</a:t>
            </a: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</a:t>
            </a: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617720" y="1005840"/>
            <a:ext cx="2011680" cy="3794760"/>
          </a:xfrm>
          <a:prstGeom prst="roundRect">
            <a:avLst>
              <a:gd fmla="val 5455" name="adj"/>
            </a:avLst>
          </a:prstGeom>
          <a:solidFill>
            <a:srgbClr val="7C3AED"/>
          </a:solidFill>
          <a:ln>
            <a:noFill/>
          </a:ln>
          <a:effectLst>
            <a:outerShdw blurRad="762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617720" y="21762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3. Transform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617720" y="254203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D7EE"/>
              </a:buClr>
              <a:buSzPts val="1000"/>
              <a:buFont typeface="Courier New"/>
              <a:buNone/>
            </a:pPr>
            <a:r>
              <a:rPr i="0" lang="en-US" sz="1000" u="none" cap="none" strike="noStrike">
                <a:solidFill>
                  <a:srgbClr val="BDD7EE"/>
                </a:solidFill>
                <a:latin typeface="Roboto"/>
                <a:ea typeface="Roboto"/>
                <a:cs typeface="Roboto"/>
                <a:sym typeface="Roboto"/>
              </a:rPr>
              <a:t>transformations.py</a:t>
            </a:r>
            <a:endParaRPr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709160" y="288036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-"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departure_hour, delay flags</a:t>
            </a:r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-"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Airport / airline / hourly delays /  dela</a:t>
            </a: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rate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aggregations per batch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766560" y="1005840"/>
            <a:ext cx="2011680" cy="3794760"/>
          </a:xfrm>
          <a:prstGeom prst="roundRect">
            <a:avLst>
              <a:gd fmla="val 5455" name="adj"/>
            </a:avLst>
          </a:prstGeom>
          <a:solidFill>
            <a:srgbClr val="16A34A"/>
          </a:solidFill>
          <a:ln>
            <a:noFill/>
          </a:ln>
          <a:effectLst>
            <a:outerShdw blurRad="762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766560" y="21762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4. ML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766560" y="254203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D7EE"/>
              </a:buClr>
              <a:buSzPts val="1000"/>
              <a:buFont typeface="Courier New"/>
              <a:buNone/>
            </a:pPr>
            <a:r>
              <a:rPr i="0" lang="en-US" sz="1000" u="none" cap="none" strike="noStrike">
                <a:solidFill>
                  <a:srgbClr val="BDD7EE"/>
                </a:solidFill>
                <a:latin typeface="Roboto"/>
                <a:ea typeface="Roboto"/>
                <a:cs typeface="Roboto"/>
                <a:sym typeface="Roboto"/>
              </a:rPr>
              <a:t>ml_pipeline.py</a:t>
            </a:r>
            <a:endParaRPr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858000" y="288036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-"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StringIndexer </a:t>
            </a: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VectorAssembler</a:t>
            </a:r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-"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Trained on full dataset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-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s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aved to ./models/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Machine Learning Model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097280" y="11887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A2342"/>
                </a:solidFill>
                <a:latin typeface="Cambria"/>
                <a:ea typeface="Cambria"/>
                <a:cs typeface="Cambria"/>
                <a:sym typeface="Cambria"/>
              </a:rPr>
              <a:t>Model Pipeline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365760" y="1828800"/>
            <a:ext cx="4023360" cy="658368"/>
          </a:xfrm>
          <a:prstGeom prst="roundRect">
            <a:avLst>
              <a:gd fmla="val 11111" name="adj"/>
            </a:avLst>
          </a:prstGeom>
          <a:solidFill>
            <a:srgbClr val="D6EAF8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365797" y="2546538"/>
            <a:ext cx="4023300" cy="658500"/>
          </a:xfrm>
          <a:prstGeom prst="roundRect">
            <a:avLst>
              <a:gd fmla="val 11111" name="adj"/>
            </a:avLst>
          </a:prstGeom>
          <a:solidFill>
            <a:srgbClr val="D6EAF8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502870" y="1911214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4F8A"/>
                </a:solidFill>
                <a:latin typeface="Calibri"/>
                <a:ea typeface="Calibri"/>
                <a:cs typeface="Calibri"/>
                <a:sym typeface="Calibri"/>
              </a:rPr>
              <a:t>1. StringIndexer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02920" y="21488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Encode OP_UNIQUE_CARRIER, ORIGIN, DEST as numeric indices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02920" y="261518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4F8A"/>
                </a:solidFill>
                <a:latin typeface="Calibri"/>
                <a:ea typeface="Calibri"/>
                <a:cs typeface="Calibri"/>
                <a:sym typeface="Calibri"/>
              </a:rPr>
              <a:t>2. VectorAssembler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02920" y="289864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Combine MONTH, DAY_OF_WEEK, departure_hour, DISTANCE + indexed categoricals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365760" y="3328416"/>
            <a:ext cx="4023360" cy="658368"/>
          </a:xfrm>
          <a:prstGeom prst="roundRect">
            <a:avLst>
              <a:gd fmla="val 11111" name="adj"/>
            </a:avLst>
          </a:prstGeom>
          <a:solidFill>
            <a:srgbClr val="D6EAF8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02920" y="336499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4F8A"/>
                </a:solidFill>
                <a:latin typeface="Calibri"/>
                <a:ea typeface="Calibri"/>
                <a:cs typeface="Calibri"/>
                <a:sym typeface="Calibri"/>
              </a:rPr>
              <a:t>3. Logistic Regression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65797" y="4069075"/>
            <a:ext cx="4023300" cy="658500"/>
          </a:xfrm>
          <a:prstGeom prst="roundRect">
            <a:avLst>
              <a:gd fmla="val 11111" name="adj"/>
            </a:avLst>
          </a:prstGeom>
          <a:solidFill>
            <a:srgbClr val="D6EAF8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502920" y="364845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Binary classifier: is_delayed 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0, 1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02920" y="411480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4F8A"/>
                </a:solidFill>
                <a:latin typeface="Calibri"/>
                <a:ea typeface="Calibri"/>
                <a:cs typeface="Calibri"/>
                <a:sym typeface="Calibri"/>
              </a:rPr>
              <a:t>4. PipelineModel.save()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02920" y="439826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Saved model </a:t>
            </a: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 ./models/flight_delay_model — loaded per batch in streaming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754880" y="114300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A2342"/>
                </a:solidFill>
                <a:latin typeface="Cambria"/>
                <a:ea typeface="Cambria"/>
                <a:cs typeface="Cambria"/>
                <a:sym typeface="Cambria"/>
              </a:rPr>
              <a:t>Input Features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754880" y="1600200"/>
            <a:ext cx="40233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MONTH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DAY_OF_MONTH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DAY_OF_WEEK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departure_hour (floor(CRS_DEP_TIME/100))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0" i="0" sz="125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DEP_DELAY</a:t>
            </a:r>
            <a:endParaRPr sz="12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OP_UNIQUE_CARRIER (encoded)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ORIGIN (encoded)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DEST (encoded)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mbria"/>
                <a:ea typeface="Cambria"/>
                <a:cs typeface="Cambria"/>
                <a:sym typeface="Cambria"/>
              </a:rPr>
              <a:t>ML Results  </a:t>
            </a:r>
            <a:r>
              <a:rPr b="1" lang="en-US" sz="2800">
                <a:solidFill>
                  <a:srgbClr val="0A2342"/>
                </a:solidFill>
                <a:latin typeface="Cambria"/>
                <a:ea typeface="Cambria"/>
                <a:cs typeface="Cambria"/>
                <a:sym typeface="Cambria"/>
              </a:rPr>
              <a:t>- </a:t>
            </a:r>
            <a:r>
              <a:rPr b="1" i="0" lang="en-US" sz="2800" u="none" cap="none" strike="noStrike">
                <a:solidFill>
                  <a:srgbClr val="0A2342"/>
                </a:solidFill>
                <a:latin typeface="Cambria"/>
                <a:ea typeface="Cambria"/>
                <a:cs typeface="Cambria"/>
                <a:sym typeface="Cambria"/>
              </a:rPr>
              <a:t>Full Dataset (538,837 records)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365760" y="9601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4F8A"/>
                </a:solidFill>
                <a:latin typeface="Cambria"/>
                <a:ea typeface="Cambria"/>
                <a:cs typeface="Cambria"/>
                <a:sym typeface="Cambria"/>
              </a:rPr>
              <a:t>Confusion Matrix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411480" y="1371600"/>
            <a:ext cx="1874520" cy="1463040"/>
          </a:xfrm>
          <a:prstGeom prst="roundRect">
            <a:avLst>
              <a:gd fmla="val 6250" name="adj"/>
            </a:avLst>
          </a:prstGeom>
          <a:solidFill>
            <a:srgbClr val="DCFCE7"/>
          </a:solidFill>
          <a:ln>
            <a:noFill/>
          </a:ln>
          <a:effectLst>
            <a:outerShdw blurRad="762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411480" y="1897380"/>
            <a:ext cx="1874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66534"/>
                </a:solidFill>
                <a:latin typeface="Cambria"/>
                <a:ea typeface="Cambria"/>
                <a:cs typeface="Cambria"/>
                <a:sym typeface="Cambria"/>
              </a:rPr>
              <a:t>425,713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457195" y="2377438"/>
            <a:ext cx="169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Correctly predicted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not delayed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2423160" y="1371600"/>
            <a:ext cx="1874520" cy="1463040"/>
          </a:xfrm>
          <a:prstGeom prst="roundRect">
            <a:avLst>
              <a:gd fmla="val 6250" name="adj"/>
            </a:avLst>
          </a:prstGeom>
          <a:solidFill>
            <a:srgbClr val="FEF9C3"/>
          </a:solidFill>
          <a:ln>
            <a:noFill/>
          </a:ln>
          <a:effectLst>
            <a:outerShdw blurRad="762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2423173" y="1934018"/>
            <a:ext cx="1874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854D0E"/>
                </a:solidFill>
                <a:latin typeface="Cambria"/>
                <a:ea typeface="Cambria"/>
                <a:cs typeface="Cambria"/>
                <a:sym typeface="Cambria"/>
              </a:rPr>
              <a:t>234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2514575" y="2377488"/>
            <a:ext cx="169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54D0E"/>
                </a:solidFill>
                <a:latin typeface="Calibri"/>
                <a:ea typeface="Calibri"/>
                <a:cs typeface="Calibri"/>
                <a:sym typeface="Calibri"/>
              </a:rPr>
              <a:t>Predicted delayed,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54D0E"/>
                </a:solidFill>
                <a:latin typeface="Calibri"/>
                <a:ea typeface="Calibri"/>
                <a:cs typeface="Calibri"/>
                <a:sym typeface="Calibri"/>
              </a:rPr>
              <a:t>was on 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11480" y="2971800"/>
            <a:ext cx="1874520" cy="1463040"/>
          </a:xfrm>
          <a:prstGeom prst="roundRect">
            <a:avLst>
              <a:gd fmla="val 6250" name="adj"/>
            </a:avLst>
          </a:prstGeom>
          <a:solidFill>
            <a:srgbClr val="FEE2E2"/>
          </a:solidFill>
          <a:ln>
            <a:noFill/>
          </a:ln>
          <a:effectLst>
            <a:outerShdw blurRad="762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411480" y="3383280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991B1B"/>
                </a:solidFill>
                <a:latin typeface="Cambria"/>
                <a:ea typeface="Cambria"/>
                <a:cs typeface="Cambria"/>
                <a:sym typeface="Cambria"/>
              </a:rPr>
              <a:t>85,698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02920" y="3904488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Missed delays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(false sense of safety)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2423160" y="2971800"/>
            <a:ext cx="1874520" cy="1463040"/>
          </a:xfrm>
          <a:prstGeom prst="roundRect">
            <a:avLst>
              <a:gd fmla="val 6250" name="adj"/>
            </a:avLst>
          </a:prstGeom>
          <a:solidFill>
            <a:srgbClr val="DBEAFE"/>
          </a:solidFill>
          <a:ln>
            <a:noFill/>
          </a:ln>
          <a:effectLst>
            <a:outerShdw blurRad="762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2423160" y="3383280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E40AF"/>
                </a:solidFill>
                <a:latin typeface="Cambria"/>
                <a:ea typeface="Cambria"/>
                <a:cs typeface="Cambria"/>
                <a:sym typeface="Cambria"/>
              </a:rPr>
              <a:t>27,192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2514600" y="3904488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Correctly predicted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delayed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11530" y="1554528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Actual: Not Delayed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2423173" y="1554453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Actual: Delayed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846320" y="1005840"/>
            <a:ext cx="3931920" cy="896112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4983480" y="1060704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Overall 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7772400" y="1051560"/>
            <a:ext cx="914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B4F8A"/>
                </a:solidFill>
                <a:latin typeface="Cambria"/>
                <a:ea typeface="Cambria"/>
                <a:cs typeface="Cambria"/>
                <a:sym typeface="Cambria"/>
              </a:rPr>
              <a:t>84.1%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983480" y="1508760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Inflated by majority class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846320" y="2029968"/>
            <a:ext cx="3931920" cy="896112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983480" y="20848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Class-1 Precision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772400" y="2075688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6A34A"/>
                </a:solidFill>
                <a:latin typeface="Cambria"/>
                <a:ea typeface="Cambria"/>
                <a:cs typeface="Cambria"/>
                <a:sym typeface="Cambria"/>
              </a:rPr>
              <a:t>99.1%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983480" y="253288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When it says 'delayed,' it's almost always right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846320" y="3054096"/>
            <a:ext cx="3931920" cy="896112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4983480" y="31089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Class-1 Recall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7772400" y="3099816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DC2626"/>
                </a:solidFill>
                <a:latin typeface="Cambria"/>
                <a:ea typeface="Cambria"/>
                <a:cs typeface="Cambria"/>
                <a:sym typeface="Cambria"/>
              </a:rPr>
              <a:t>24.1%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983480" y="3557016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Only catches 1 in 4 actual delays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846320" y="4078224"/>
            <a:ext cx="3931920" cy="896112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983480" y="413308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F1 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7772400" y="4123944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A580C"/>
                </a:solidFill>
                <a:latin typeface="Cambria"/>
                <a:ea typeface="Cambria"/>
                <a:cs typeface="Cambria"/>
                <a:sym typeface="Cambria"/>
              </a:rPr>
              <a:t>79.9%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983480" y="4581144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Misleading on 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imbalance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dataset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Delay Aggregation Outputs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365760" y="10515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4F8A"/>
                </a:solidFill>
                <a:latin typeface="Cambria"/>
                <a:ea typeface="Cambria"/>
                <a:cs typeface="Cambria"/>
                <a:sym typeface="Cambria"/>
              </a:rPr>
              <a:t>Hourly Delay Rate (%)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365760" y="4503640"/>
            <a:ext cx="5212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Delays peak in the evening (</a:t>
            </a:r>
            <a:r>
              <a:rPr i="1"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6-8</a:t>
            </a: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PM</a:t>
            </a:r>
            <a:r>
              <a:rPr i="1"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). </a:t>
            </a:r>
            <a:endParaRPr i="1" sz="10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t/>
            </a:r>
            <a:endParaRPr i="1" sz="10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Hours 0-4 omitted because there were less than 500 flights for each hour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852160" y="10515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4F8A"/>
                </a:solidFill>
                <a:latin typeface="Cambria"/>
                <a:ea typeface="Cambria"/>
                <a:cs typeface="Cambria"/>
                <a:sym typeface="Cambria"/>
              </a:rPr>
              <a:t>Airline Delay Rates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5852150" y="1417325"/>
            <a:ext cx="2834700" cy="429900"/>
          </a:xfrm>
          <a:prstGeom prst="roundRect">
            <a:avLst>
              <a:gd fmla="val 12903" name="adj"/>
            </a:avLst>
          </a:prstGeom>
          <a:solidFill>
            <a:srgbClr val="D6EAF8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5989320" y="152704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(F9) Frontier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7621060" y="1469815"/>
            <a:ext cx="100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B4F8A"/>
                </a:solidFill>
                <a:latin typeface="Cambria"/>
                <a:ea typeface="Cambria"/>
                <a:cs typeface="Cambria"/>
                <a:sym typeface="Cambria"/>
              </a:rPr>
              <a:t>33.91%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5852150" y="1933922"/>
            <a:ext cx="2834700" cy="429900"/>
          </a:xfrm>
          <a:prstGeom prst="roundRect">
            <a:avLst>
              <a:gd fmla="val 12903" name="adj"/>
            </a:avLst>
          </a:prstGeom>
          <a:solidFill>
            <a:srgbClr val="D6EAF8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5989320" y="1965966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(NK) Spirit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7621060" y="1920184"/>
            <a:ext cx="100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B4F8A"/>
                </a:solidFill>
                <a:latin typeface="Cambria"/>
                <a:ea typeface="Cambria"/>
                <a:cs typeface="Cambria"/>
                <a:sym typeface="Cambria"/>
              </a:rPr>
              <a:t>28.38</a:t>
            </a:r>
            <a:r>
              <a:rPr b="1" i="0" lang="en-US" sz="1800" u="none" cap="none" strike="noStrike">
                <a:solidFill>
                  <a:srgbClr val="1B4F8A"/>
                </a:solidFill>
                <a:latin typeface="Cambria"/>
                <a:ea typeface="Cambria"/>
                <a:cs typeface="Cambria"/>
                <a:sym typeface="Cambria"/>
              </a:rPr>
              <a:t>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852223" y="2912403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4F8A"/>
                </a:solidFill>
                <a:latin typeface="Cambria"/>
                <a:ea typeface="Cambria"/>
                <a:cs typeface="Cambria"/>
                <a:sym typeface="Cambria"/>
              </a:rPr>
              <a:t>Top Delay Airports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852160" y="3246120"/>
            <a:ext cx="3017520" cy="329184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5943600" y="327355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JAC – Jackson Hole, WY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7772400" y="327355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Mountain weather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852160" y="3611880"/>
            <a:ext cx="3017520" cy="329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5943600" y="363931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EGE – Eagle/Vail, 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7772400" y="363931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Mountain + </a:t>
            </a: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Resort + weather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852160" y="3977640"/>
            <a:ext cx="3017520" cy="329184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5943600" y="400507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ASE – Aspen, 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7772400" y="400507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Mountain </a:t>
            </a:r>
            <a:r>
              <a:rPr i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+ Resort + weather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852160" y="4343400"/>
            <a:ext cx="3017520" cy="329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5943600" y="43708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ORD – Chicago O'Hare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7772400" y="437083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Hub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852160" y="4709160"/>
            <a:ext cx="3017520" cy="329184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5943600" y="473659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DEN – Denver, 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7772400" y="473659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Hub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325" y="1489833"/>
            <a:ext cx="4970231" cy="294132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/>
          <p:nvPr/>
        </p:nvSpPr>
        <p:spPr>
          <a:xfrm>
            <a:off x="5852150" y="2437326"/>
            <a:ext cx="2834700" cy="474600"/>
          </a:xfrm>
          <a:prstGeom prst="roundRect">
            <a:avLst>
              <a:gd fmla="val 12903" name="adj"/>
            </a:avLst>
          </a:prstGeom>
          <a:solidFill>
            <a:srgbClr val="D6EAF8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5989320" y="2439191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(G4) Allegiant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7621060" y="2468834"/>
            <a:ext cx="100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B4F8A"/>
                </a:solidFill>
                <a:latin typeface="Cambria"/>
                <a:ea typeface="Cambria"/>
                <a:cs typeface="Cambria"/>
                <a:sym typeface="Cambria"/>
              </a:rPr>
              <a:t>28.00</a:t>
            </a:r>
            <a:r>
              <a:rPr b="1" i="0" lang="en-US" sz="1800" u="none" cap="none" strike="noStrike">
                <a:solidFill>
                  <a:srgbClr val="1B4F8A"/>
                </a:solidFill>
                <a:latin typeface="Cambria"/>
                <a:ea typeface="Cambria"/>
                <a:cs typeface="Cambria"/>
                <a:sym typeface="Cambria"/>
              </a:rPr>
              <a:t>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6" name="Google Shape;1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515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/>
          <p:nvPr/>
        </p:nvSpPr>
        <p:spPr>
          <a:xfrm>
            <a:off x="841248" y="1005840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Successfully built an end-to-end Spark pipeline from raw S3 data to ML predictions and aggregation outputs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8" name="Google Shape;19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7830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0"/>
          <p:cNvSpPr/>
          <p:nvPr/>
        </p:nvSpPr>
        <p:spPr>
          <a:xfrm>
            <a:off x="841248" y="1737360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Spark Structured Streaming with foreachBatch effectively simulated real-time ingestion at scale (540k records, 75k per batch)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0" name="Google Shape;2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5146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0"/>
          <p:cNvSpPr/>
          <p:nvPr/>
        </p:nvSpPr>
        <p:spPr>
          <a:xfrm>
            <a:off x="841248" y="2468880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Logistic Regression achieved 99.1% precision on delayed flights</a:t>
            </a:r>
            <a:r>
              <a:rPr lang="en-US" sz="1250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. Only </a:t>
            </a:r>
            <a:r>
              <a:rPr b="0" i="0" lang="en-US" sz="1250" u="none" cap="none" strike="noStrike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reliable when it flags a delay</a:t>
            </a:r>
            <a:r>
              <a:rPr lang="en-US" sz="1250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1250" u="none" cap="none" strike="noStrike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50" u="none" cap="none" strike="noStrike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ow recall (24.1%) reveals class imbalance as the main model gap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32461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0"/>
          <p:cNvSpPr/>
          <p:nvPr/>
        </p:nvSpPr>
        <p:spPr>
          <a:xfrm>
            <a:off x="841248" y="3200400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Hourly delay analysis confirmed </a:t>
            </a:r>
            <a:r>
              <a:rPr lang="en-US" sz="1250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delay</a:t>
            </a:r>
            <a:r>
              <a:rPr b="0" i="0" lang="en-US" sz="1250" u="none" cap="none" strike="noStrike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 rates double from morning to evening peak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39776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0"/>
          <p:cNvSpPr/>
          <p:nvPr/>
        </p:nvSpPr>
        <p:spPr>
          <a:xfrm>
            <a:off x="841248" y="3831333"/>
            <a:ext cx="7955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Airport</a:t>
            </a:r>
            <a:r>
              <a:rPr lang="en-US" sz="1250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50" u="none" cap="none" strike="noStrike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analysis showed mountain/resort airports and congested hubs as top delay contributors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274320" y="470916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D7E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BDD7EE"/>
                </a:solidFill>
                <a:latin typeface="Calibri"/>
                <a:ea typeface="Calibri"/>
                <a:cs typeface="Calibri"/>
                <a:sym typeface="Calibri"/>
              </a:rPr>
              <a:t>https://github.com/geoffreycloud/Flight-Delay-Prediction-Using-Apache-Spark/tree/main</a:t>
            </a:r>
            <a:r>
              <a:rPr b="0" i="0" lang="en-US" sz="1200" u="none" cap="none" strike="noStrike">
                <a:solidFill>
                  <a:srgbClr val="BDD7EE"/>
                </a:solidFill>
                <a:latin typeface="Calibri"/>
                <a:ea typeface="Calibri"/>
                <a:cs typeface="Calibri"/>
                <a:sym typeface="Calibri"/>
              </a:rPr>
              <a:t>  •  v1.0.0  </a:t>
            </a:r>
            <a:r>
              <a:rPr b="0" i="0" lang="en-US" sz="1200" u="none" cap="none" strike="noStrike">
                <a:solidFill>
                  <a:srgbClr val="BDD7E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i="0" lang="en-US" sz="1200" u="none" cap="none" strike="noStrike">
                <a:solidFill>
                  <a:srgbClr val="BDD7EE"/>
                </a:solidFill>
                <a:latin typeface="Calibri"/>
                <a:ea typeface="Calibri"/>
                <a:cs typeface="Calibri"/>
                <a:sym typeface="Calibri"/>
              </a:rPr>
              <a:t>  June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